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4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29C74-B478-DD84-0FFC-014FAD7086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A0D89-0273-D99B-2BD8-E46A844FA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8D0E-C32F-65E1-DB4A-1D2EAE37E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F9B0E-E755-5015-CC3B-AF941F91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2BFD5-CD52-0C30-8F54-F7E79F1EB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65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8D2D-CDFB-A30E-3230-EEACE54C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55652-7042-2B5C-48FE-C20645C9A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4F954-F63C-1690-7B5A-3CB0102AD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7F9E6-0990-1089-8BDF-2D5CE63F6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EFB06-EE9A-9FA6-D9F2-57C54FBC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60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F0ED-3087-35D2-A4A5-AD24E67AA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1BCFD-657D-39BE-0356-88D5C1461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49EFF-9EE3-72F4-AFB7-5030F1C0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28094-C477-EAB7-BCA5-072EC782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A7642-BFCA-1993-CC65-2E8BE0AF6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05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FFC2-6593-367C-4041-FE3D880B4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01F9E-4DF1-7086-E874-54B8AEE52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BFBF3-8917-5467-0875-A1E47F296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D0B6D9-0D15-27ED-6B8C-4DF8AF816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31BBE-ABF7-D6F9-8EED-ED0A362FD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6042B7-6681-EBE9-B0A0-984C14304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799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D717-5C84-EC36-9B8C-5EB12B6FF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9CFDE-B271-CA3F-BCD1-4A5B43FB7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DA82A-BAB4-677B-7D75-3289F38F98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C7082-B47B-5930-DDC6-136708C15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A6916-5389-0384-EB76-AE6D7948B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72C18-F9DB-4B95-B8AC-7AAAB331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13C3CC-7EEF-9E77-2518-BB1C7564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FFBEA8-9BE8-F9B2-E013-BB66532B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607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AFC8-1B68-E11F-5768-1DF8FA19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089E0-A12D-945C-CA85-9EAA7FCC9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6598A-171A-69AD-D2F5-597F7B15E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76359-A594-F009-1883-315EE3D22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C11335-A5AF-896E-7087-CFA879BD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61916C-5E36-5046-8E5A-20E58D31C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2E0D22-3603-285C-5AD2-4383DA01D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837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09D72-4C04-E61B-00D9-D50F3450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B7DD9-DC69-1455-3444-947F42197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B8ED1A-4C82-4901-874D-D6FC502DC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A4B31-4BA6-9C47-A796-665E73DE1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E72FC-A75E-0848-4FEC-502EC5B1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B6B4A-AEF7-10DC-F6C2-2DAE5091D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424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7C890-1878-89B9-7CE6-ACA51AE95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E16BA-E545-404F-DD87-EB3AFE4B0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048C2-BCC1-CD94-C330-3743ADDE7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D0BA0-EA2C-1BD2-40E3-CD89D3038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E71876-5ECD-A0B9-162E-9B0CDCC6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79EF7-82EB-EADA-322F-7673F5325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106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4F4F0-6FA5-F9EB-3E37-BAA815DC6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BD06BC-8993-1AA9-2B0F-4A375B350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65263-A639-BDB9-FC02-279C1C0D5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B1503-79A2-B85B-1099-67656D32F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4259-061C-B7F7-9D50-1C94F3C3C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843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00F49D-C5A3-2D75-0904-1EF90803F4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F52D4-9944-A263-FBAD-C9838EBFA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13C-AB08-721E-BFB8-D1EAC2822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CC0B2-7143-A0EF-061A-4D06D2C8D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4069F-45D1-DC46-1E3B-1E61CC3B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39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04D473-D295-889E-A5FA-9454CD639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8C768-87F5-CA8A-F99C-0ED0FAB82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444F4-C588-B45A-B14C-D4180A8E3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D795FF-6268-4D33-923E-CA0217349567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914D-FB2E-DDD9-29E4-0DC5CE6C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A89FB-ADE4-04E6-C9A4-0D2AF8D27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27E46-87A8-40FA-BE02-42E0A2CF36C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5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D7196E-8AF9-3C1E-14BA-D80B4851D2B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C6286C-5C14-B74D-696A-0843805DBB3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7695E4-98E0-307E-59CA-29D6331C1320}"/>
              </a:ext>
            </a:extLst>
          </p:cNvPr>
          <p:cNvSpPr/>
          <p:nvPr/>
        </p:nvSpPr>
        <p:spPr>
          <a:xfrm>
            <a:off x="635000" y="952500"/>
            <a:ext cx="3302000" cy="381000"/>
          </a:xfrm>
          <a:prstGeom prst="roundRect">
            <a:avLst/>
          </a:prstGeom>
          <a:solidFill>
            <a:srgbClr val="1E293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rgbClr val="60A5FA"/>
                </a:solidFill>
                <a:latin typeface="Segoe UI" panose="020B0502040204020203" pitchFamily="34" charset="0"/>
              </a:rPr>
              <a:t>B.TECH FINAL YEAR MAJOR PROJECT</a:t>
            </a:r>
            <a:endParaRPr lang="en-IN" sz="1000" b="1">
              <a:solidFill>
                <a:srgbClr val="60A5F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A1ADD-ACFF-52C0-DB43-9C84A5528B0B}"/>
              </a:ext>
            </a:extLst>
          </p:cNvPr>
          <p:cNvSpPr txBox="1"/>
          <p:nvPr/>
        </p:nvSpPr>
        <p:spPr>
          <a:xfrm>
            <a:off x="635000" y="1460500"/>
            <a:ext cx="1092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4800" b="1">
                <a:solidFill>
                  <a:srgbClr val="FFFFFF"/>
                </a:solidFill>
                <a:latin typeface="Segoe UI" panose="020B0502040204020203" pitchFamily="34" charset="0"/>
              </a:rPr>
              <a:t>EdgeSpam-IoT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76A36-2884-9AF4-9290-DA516D2C9BC0}"/>
              </a:ext>
            </a:extLst>
          </p:cNvPr>
          <p:cNvSpPr txBox="1"/>
          <p:nvPr/>
        </p:nvSpPr>
        <p:spPr>
          <a:xfrm>
            <a:off x="635000" y="2603500"/>
            <a:ext cx="10922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94A3B8"/>
                </a:solidFill>
                <a:latin typeface="Segoe UI" panose="020B0502040204020203" pitchFamily="34" charset="0"/>
              </a:rPr>
              <a:t>Real-Time SMS Spam Detection with Dual Edge-IoT &amp; Cloud Serverless Deployment</a:t>
            </a:r>
            <a:endParaRPr lang="en-IN" sz="2000">
              <a:solidFill>
                <a:srgbClr val="94A3B8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89D0BDA-1FCC-6ECC-D453-339A63A00898}"/>
              </a:ext>
            </a:extLst>
          </p:cNvPr>
          <p:cNvSpPr/>
          <p:nvPr/>
        </p:nvSpPr>
        <p:spPr>
          <a:xfrm>
            <a:off x="635000" y="3937000"/>
            <a:ext cx="3429000" cy="203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03657-36B0-8191-DC25-DF74485D3708}"/>
              </a:ext>
            </a:extLst>
          </p:cNvPr>
          <p:cNvSpPr txBox="1"/>
          <p:nvPr/>
        </p:nvSpPr>
        <p:spPr>
          <a:xfrm>
            <a:off x="825500" y="408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60A5FA"/>
                </a:solidFill>
                <a:latin typeface="Segoe UI" panose="020B0502040204020203" pitchFamily="34" charset="0"/>
              </a:rPr>
              <a:t>Edge Computing
</a:t>
            </a:r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Runs standalone on ESP32 microcontroller with OLED display. 100% offline, zero-latency inference with 2 KB RAM footprint.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ADD711-EDE5-FEA8-48FE-15CE06A6430F}"/>
              </a:ext>
            </a:extLst>
          </p:cNvPr>
          <p:cNvSpPr/>
          <p:nvPr/>
        </p:nvSpPr>
        <p:spPr>
          <a:xfrm>
            <a:off x="4381500" y="3937000"/>
            <a:ext cx="3429000" cy="203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B071A-6471-F9EE-ABA1-A611FE12D327}"/>
              </a:ext>
            </a:extLst>
          </p:cNvPr>
          <p:cNvSpPr txBox="1"/>
          <p:nvPr/>
        </p:nvSpPr>
        <p:spPr>
          <a:xfrm>
            <a:off x="4572000" y="408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34D399"/>
                </a:solidFill>
                <a:latin typeface="Segoe UI" panose="020B0502040204020203" pitchFamily="34" charset="0"/>
              </a:rPr>
              <a:t>Machine Learning
</a:t>
            </a:r>
            <a:r>
              <a:rPr lang="en-US" sz="1200">
                <a:solidFill>
                  <a:srgbClr val="CBD5E1"/>
                </a:solidFill>
                <a:latin typeface="Segoe UI" panose="020B0502040204020203" pitchFamily="34" charset="0"/>
              </a:rPr>
              <a:t>Feature Hashing (MurmurHash3) + L1-regularized SGD Linear Classifier. 95.96% accuracy, 91.95% spam recall.</a:t>
            </a:r>
            <a:endParaRPr lang="en-IN" sz="12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05C515-C1DB-CEEC-833B-4C9FE3C87795}"/>
              </a:ext>
            </a:extLst>
          </p:cNvPr>
          <p:cNvSpPr/>
          <p:nvPr/>
        </p:nvSpPr>
        <p:spPr>
          <a:xfrm>
            <a:off x="8128000" y="3937000"/>
            <a:ext cx="3429000" cy="203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A2CD46-6B3B-AF8B-3A5B-C428B8E2E7E8}"/>
              </a:ext>
            </a:extLst>
          </p:cNvPr>
          <p:cNvSpPr txBox="1"/>
          <p:nvPr/>
        </p:nvSpPr>
        <p:spPr>
          <a:xfrm>
            <a:off x="8318500" y="408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F472B6"/>
                </a:solidFill>
                <a:latin typeface="Segoe UI" panose="020B0502040204020203" pitchFamily="34" charset="0"/>
              </a:rPr>
              <a:t>Cloud Serverless
</a:t>
            </a:r>
            <a:r>
              <a:rPr lang="en-US" sz="1200">
                <a:solidFill>
                  <a:srgbClr val="CBD5E1"/>
                </a:solidFill>
                <a:latin typeface="Segoe UI" panose="020B0502040204020203" pitchFamily="34" charset="0"/>
              </a:rPr>
              <a:t>Full Flask REST API + Admin Portal deployed on Vercel Serverless with Edge CDN &amp; dual persistence.</a:t>
            </a:r>
            <a:endParaRPr lang="en-IN" sz="12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6251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ECADB-3E62-D002-983E-C6E7257395C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C515FAB-9AF4-3F9F-8172-2AB849F31678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BACKGROUND &amp;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64DBC-E079-3856-555A-A04DF769D52E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172A"/>
                </a:solidFill>
                <a:latin typeface="Segoe UI" panose="020B0502040204020203" pitchFamily="34" charset="0"/>
              </a:rPr>
              <a:t>Introduction &amp; Motivation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8C6EF8-5400-8173-3474-788C780F30C7}"/>
              </a:ext>
            </a:extLst>
          </p:cNvPr>
          <p:cNvSpPr/>
          <p:nvPr/>
        </p:nvSpPr>
        <p:spPr>
          <a:xfrm>
            <a:off x="635000" y="1397000"/>
            <a:ext cx="52705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5A34BF-1C70-363F-3606-CFDC17352E47}"/>
              </a:ext>
            </a:extLst>
          </p:cNvPr>
          <p:cNvSpPr txBox="1"/>
          <p:nvPr/>
        </p:nvSpPr>
        <p:spPr>
          <a:xfrm>
            <a:off x="825500" y="1549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DC2626"/>
                </a:solidFill>
                <a:latin typeface="Segoe UI" panose="020B0502040204020203" pitchFamily="34" charset="0"/>
              </a:rPr>
              <a:t>The SMS Spam Threat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SMS is universally trusted by users for OTPs, banking alerts, and personal communication.
â€¢ 300%+ surge in SMS phishing (smishing), lottery scams, and credential theft.
â€¢ Billions of dollars in annual global consumer fraud losses.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ED2E6B3-CFA8-5379-717C-8CCF9E6AEEAD}"/>
              </a:ext>
            </a:extLst>
          </p:cNvPr>
          <p:cNvSpPr/>
          <p:nvPr/>
        </p:nvSpPr>
        <p:spPr>
          <a:xfrm>
            <a:off x="6286500" y="1397000"/>
            <a:ext cx="527050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EB625A-CD37-8BBB-D823-C1867A324363}"/>
              </a:ext>
            </a:extLst>
          </p:cNvPr>
          <p:cNvSpPr txBox="1"/>
          <p:nvPr/>
        </p:nvSpPr>
        <p:spPr>
          <a:xfrm>
            <a:off x="6477000" y="1549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D97706"/>
                </a:solidFill>
                <a:latin typeface="Segoe UI" panose="020B0502040204020203" pitchFamily="34" charset="0"/>
              </a:rPr>
              <a:t>Flaws in Traditional Filters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Cloud Reliance: Sending personal SMS to third-party servers raises severe privacy violations.
â€¢ High Latency: Network latency makes real-time filtering sluggish.
â€¢ Heavy Models: Modern deep learning (BERT, Transformers) cannot run on constrained edge devices.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5A0C4D1-F88A-3FB2-BAE8-DE19737FCBB3}"/>
              </a:ext>
            </a:extLst>
          </p:cNvPr>
          <p:cNvSpPr/>
          <p:nvPr/>
        </p:nvSpPr>
        <p:spPr>
          <a:xfrm>
            <a:off x="635000" y="3937000"/>
            <a:ext cx="10922000" cy="2159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20184-D979-94C6-4693-846C2208D894}"/>
              </a:ext>
            </a:extLst>
          </p:cNvPr>
          <p:cNvSpPr txBox="1"/>
          <p:nvPr/>
        </p:nvSpPr>
        <p:spPr>
          <a:xfrm>
            <a:off x="825500" y="4089400"/>
            <a:ext cx="1054100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2563EB"/>
                </a:solidFill>
                <a:latin typeface="Segoe UI" panose="020B0502040204020203" pitchFamily="34" charset="0"/>
              </a:rPr>
              <a:t>The EdgeSpam-IoT Solution
</a:t>
            </a:r>
            <a:r>
              <a:rPr lang="en-US" sz="1200">
                <a:solidFill>
                  <a:srgbClr val="1E3A8A"/>
                </a:solidFill>
                <a:latin typeface="Segoe UI" panose="020B0502040204020203" pitchFamily="34" charset="0"/>
              </a:rPr>
              <a:t>
â€¢ Dual Architecture: Operates seamlessly as an offline Edge-IoT device (ESP32) and as a scalable Cloud Web Service (Vercel).
â€¢ Extreme Efficiency: Feature Hashing compresses arbitrary text into 512 dimensions without an in-memory dictionary.
â€¢ High Accuracy: Achieves 95.96% accuracy while requiring only 2 KB of memory for feature storage.</a:t>
            </a:r>
            <a:endParaRPr lang="en-IN" sz="1200">
              <a:solidFill>
                <a:srgbClr val="1E3A8A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209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9C7A9-5698-4EDC-9A10-B83F059395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3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C8CB10B-E834-2F74-850F-2431FC95FDC7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SYSTEM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32FA3C-ED0E-74B0-6BFC-BF81B52381E8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172A"/>
                </a:solidFill>
                <a:latin typeface="Segoe UI" panose="020B0502040204020203" pitchFamily="34" charset="0"/>
              </a:rPr>
              <a:t>Dual Edge-IoT &amp; Cloud Architecture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DC840FE-758A-5F8D-01E8-C96F5DDCB6F4}"/>
              </a:ext>
            </a:extLst>
          </p:cNvPr>
          <p:cNvSpPr/>
          <p:nvPr/>
        </p:nvSpPr>
        <p:spPr>
          <a:xfrm>
            <a:off x="635000" y="1397000"/>
            <a:ext cx="52705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7B32BD-F8F7-AF26-17B5-DAE09ADB94E9}"/>
              </a:ext>
            </a:extLst>
          </p:cNvPr>
          <p:cNvSpPr txBox="1"/>
          <p:nvPr/>
        </p:nvSpPr>
        <p:spPr>
          <a:xfrm>
            <a:off x="825500" y="1549400"/>
            <a:ext cx="4889500" cy="32778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7C3AED"/>
                </a:solidFill>
                <a:latin typeface="Segoe UI" panose="020B0502040204020203" pitchFamily="34" charset="0"/>
              </a:rPr>
              <a:t>Edge-IoT Pipeline (ESP32)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1. Hardware: ESP32 Microcontroller + SSD1306 128x64 OLED display.
2. SMS Ingestion: Message received via Serial / GSM module.
3. Tokenization: Lowercasing + alphanumeric word extraction.
4. On-Device Hashing: 32-bit MurmurHash3 maps tokens into 512 bins.
5. Model Execution: Sparse dot-product: z = w^T * x + bias.
6. Display Result: Real-time SPAM/HAM classification + score on OLED.
Benefit: 100% offline, privacy-preserving, zero cloud dependencies.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630652-4A19-5CEC-332B-D194047735F6}"/>
              </a:ext>
            </a:extLst>
          </p:cNvPr>
          <p:cNvSpPr/>
          <p:nvPr/>
        </p:nvSpPr>
        <p:spPr>
          <a:xfrm>
            <a:off x="6286500" y="1397000"/>
            <a:ext cx="52705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6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555ECC-E64D-F3E8-C772-6F2768C28B32}"/>
              </a:ext>
            </a:extLst>
          </p:cNvPr>
          <p:cNvSpPr txBox="1"/>
          <p:nvPr/>
        </p:nvSpPr>
        <p:spPr>
          <a:xfrm>
            <a:off x="6477000" y="1549400"/>
            <a:ext cx="4889500" cy="34624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4F46E5"/>
                </a:solidFill>
                <a:latin typeface="Segoe UI" panose="020B0502040204020203" pitchFamily="34" charset="0"/>
              </a:rPr>
              <a:t>Cloud Serverless Pipeline (Vercel)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1. Web Frontend: Modern HTML5/ES6 UI with responsive dashboard.
2. Edge Routing: Vercel rewrites forward requests to Serverless Function.
3. Flask Backend: Fast Python REST API handles /predict, /stats, /history.
4. Cold-Start Optimization: Pre-trained model.joblib (5 KB) loads in &lt;2 ms.
5. Dual Storage: SQLite (/tmp) + client-side localStorage for instant UI.
6. Admin Portal: Session authentication for real-time monitoring.
Benefit: Instant global scalability with zero server management.</a:t>
            </a:r>
          </a:p>
        </p:txBody>
      </p:sp>
    </p:spTree>
    <p:extLst>
      <p:ext uri="{BB962C8B-B14F-4D97-AF65-F5344CB8AC3E}">
        <p14:creationId xmlns:p14="http://schemas.microsoft.com/office/powerpoint/2010/main" val="1273266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3AE62-C727-F4A1-7498-DC5F48ABE66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C5B40F-AA96-6335-DF7C-7982E653B540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05966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DATASET &amp; CORPUS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D3093-0C3A-71DF-71A9-3E85A0A9DCBB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SMS Spam Collection v.1 Analysis</a:t>
            </a:r>
            <a:endParaRPr lang="en-IN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3B646D-7760-6316-EC53-2C30FA2CB3A6}"/>
              </a:ext>
            </a:extLst>
          </p:cNvPr>
          <p:cNvSpPr/>
          <p:nvPr/>
        </p:nvSpPr>
        <p:spPr>
          <a:xfrm>
            <a:off x="635000" y="1397000"/>
            <a:ext cx="2540000" cy="139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FB995-E93B-710A-E98F-B82318A4F236}"/>
              </a:ext>
            </a:extLst>
          </p:cNvPr>
          <p:cNvSpPr txBox="1"/>
          <p:nvPr/>
        </p:nvSpPr>
        <p:spPr>
          <a:xfrm>
            <a:off x="825500" y="1549400"/>
            <a:ext cx="2159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59669"/>
                </a:solidFill>
                <a:latin typeface="Segoe UI" panose="020B0502040204020203" pitchFamily="34" charset="0"/>
              </a:rPr>
              <a:t>Total Messages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5,572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AF37A78-73A8-8840-6797-44F4D6EF3C35}"/>
              </a:ext>
            </a:extLst>
          </p:cNvPr>
          <p:cNvSpPr/>
          <p:nvPr/>
        </p:nvSpPr>
        <p:spPr>
          <a:xfrm>
            <a:off x="3429000" y="1397000"/>
            <a:ext cx="2540000" cy="139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C7A42-CFFC-D4D9-8C75-B875A7507A0A}"/>
              </a:ext>
            </a:extLst>
          </p:cNvPr>
          <p:cNvSpPr txBox="1"/>
          <p:nvPr/>
        </p:nvSpPr>
        <p:spPr>
          <a:xfrm>
            <a:off x="3619500" y="1549400"/>
            <a:ext cx="2159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10B981"/>
                </a:solidFill>
                <a:latin typeface="Segoe UI" panose="020B0502040204020203" pitchFamily="34" charset="0"/>
              </a:rPr>
              <a:t>HAM (Legitimate)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4,825 (86.59%)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8E7576-CA27-8B39-FD6A-5EE4B45D6A71}"/>
              </a:ext>
            </a:extLst>
          </p:cNvPr>
          <p:cNvSpPr/>
          <p:nvPr/>
        </p:nvSpPr>
        <p:spPr>
          <a:xfrm>
            <a:off x="6223000" y="1397000"/>
            <a:ext cx="2540000" cy="139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17097-0646-466A-4F7E-E5B9F112709E}"/>
              </a:ext>
            </a:extLst>
          </p:cNvPr>
          <p:cNvSpPr txBox="1"/>
          <p:nvPr/>
        </p:nvSpPr>
        <p:spPr>
          <a:xfrm>
            <a:off x="6413500" y="1549400"/>
            <a:ext cx="2159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DC2626"/>
                </a:solidFill>
                <a:latin typeface="Segoe UI" panose="020B0502040204020203" pitchFamily="34" charset="0"/>
              </a:rPr>
              <a:t>SPAM (Malicious)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747 (13.41%)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530A1D-024F-EF64-B728-307A5AFA5799}"/>
              </a:ext>
            </a:extLst>
          </p:cNvPr>
          <p:cNvSpPr/>
          <p:nvPr/>
        </p:nvSpPr>
        <p:spPr>
          <a:xfrm>
            <a:off x="9017000" y="1397000"/>
            <a:ext cx="2540000" cy="1397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F248F-9EAA-AFB8-1F7F-4ED068FAD9C9}"/>
              </a:ext>
            </a:extLst>
          </p:cNvPr>
          <p:cNvSpPr txBox="1"/>
          <p:nvPr/>
        </p:nvSpPr>
        <p:spPr>
          <a:xfrm>
            <a:off x="9207500" y="1549400"/>
            <a:ext cx="2159000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D97706"/>
                </a:solidFill>
                <a:latin typeface="Segoe UI" panose="020B0502040204020203" pitchFamily="34" charset="0"/>
              </a:rPr>
              <a:t>Imbalance Ratio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6.46 : 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0BAA05A-2D71-4435-8CA4-3ACC67259168}"/>
              </a:ext>
            </a:extLst>
          </p:cNvPr>
          <p:cNvSpPr/>
          <p:nvPr/>
        </p:nvSpPr>
        <p:spPr>
          <a:xfrm>
            <a:off x="635000" y="3048000"/>
            <a:ext cx="5270500" cy="292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938DCC-ED04-DF0A-79F2-81D9E0E799E9}"/>
              </a:ext>
            </a:extLst>
          </p:cNvPr>
          <p:cNvSpPr txBox="1"/>
          <p:nvPr/>
        </p:nvSpPr>
        <p:spPr>
          <a:xfrm>
            <a:off x="825500" y="3200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59669"/>
                </a:solidFill>
                <a:latin typeface="Segoe UI" panose="020B0502040204020203" pitchFamily="34" charset="0"/>
              </a:rPr>
              <a:t>Dataset Provenance (UCI Repository)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Curators: Tiago A. Almeida &amp; Jose Maria Gomez Hidalgo (2011).
â€¢ Grumbletext UK: 425 spam claims manually verified.
â€¢ Caroline Tag PhD Thesis: 450 legitimate messages.
â€¢ NUS SMS Corpus (Singapore): 3,375 legitimate messages.
â€¢ SMS Spam Corpus v.0.1 Big: 1,002 ham and 322 spam.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B83FCE-3944-9581-B379-9321DD1AEECF}"/>
              </a:ext>
            </a:extLst>
          </p:cNvPr>
          <p:cNvSpPr/>
          <p:nvPr/>
        </p:nvSpPr>
        <p:spPr>
          <a:xfrm>
            <a:off x="6286500" y="3048000"/>
            <a:ext cx="5270500" cy="2921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271B7-C5B5-D33A-5739-0859AE4A2AE6}"/>
              </a:ext>
            </a:extLst>
          </p:cNvPr>
          <p:cNvSpPr txBox="1"/>
          <p:nvPr/>
        </p:nvSpPr>
        <p:spPr>
          <a:xfrm>
            <a:off x="6477000" y="3200400"/>
            <a:ext cx="48895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59669"/>
                </a:solidFill>
                <a:latin typeface="Segoe UI" panose="020B0502040204020203" pitchFamily="34" charset="0"/>
              </a:rPr>
              <a:t>Train / Test Partitioning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Total Dataset: 5,572 records (Tab-separated).
â€¢ Train Split (80%): 4,457 samples (3,859 Ham, 598 Spam).
â€¢ Test Split (20%): 1,115 samples (966 Ham, 149 Spam).
â€¢ Stratification: stratify=df['target'] ensures identical class proportions in both sets.
â€¢ Random Seed: random_state=42 for deterministic reproducibility.</a:t>
            </a:r>
          </a:p>
        </p:txBody>
      </p:sp>
    </p:spTree>
    <p:extLst>
      <p:ext uri="{BB962C8B-B14F-4D97-AF65-F5344CB8AC3E}">
        <p14:creationId xmlns:p14="http://schemas.microsoft.com/office/powerpoint/2010/main" val="1556559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7602E8-C694-C9BD-D6CA-D303F4B9D1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F3C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9E4FE8-492A-2AC3-CF79-81C5E248EAB3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D97706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FEATURE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2F3F2-1553-5204-5BC3-5147FE9B6EEA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172A"/>
                </a:solidFill>
                <a:latin typeface="Segoe UI" panose="020B0502040204020203" pitchFamily="34" charset="0"/>
              </a:rPr>
              <a:t>Feature Hashing (MurmurHash3)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D6D3804-26F6-7F3F-773C-BB63F8D5302B}"/>
              </a:ext>
            </a:extLst>
          </p:cNvPr>
          <p:cNvSpPr/>
          <p:nvPr/>
        </p:nvSpPr>
        <p:spPr>
          <a:xfrm>
            <a:off x="635000" y="1397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1E5BB-CDD9-DE19-64EB-125586D922F9}"/>
              </a:ext>
            </a:extLst>
          </p:cNvPr>
          <p:cNvSpPr txBox="1"/>
          <p:nvPr/>
        </p:nvSpPr>
        <p:spPr>
          <a:xfrm>
            <a:off x="825500" y="1549400"/>
            <a:ext cx="48895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>
                <a:solidFill>
                  <a:srgbClr val="B45309"/>
                </a:solidFill>
                <a:latin typeface="Segoe UI" panose="020B0502040204020203" pitchFamily="34" charset="0"/>
              </a:rPr>
              <a:t>The Limitations of TF-IDF / Bag of Words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Requires storing an explicit vocabulary dictionary in RAM.
â€¢ A typical SMS vocabulary exceeds 10,000 unique words (&gt;200 KB).
â€¢ Completely infeasible for microcontrollers like ESP32 (limited SRAM).
â€¢ New, unseen words at runtime are ignored.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47045BE-DA43-4EA5-21A8-4F1A061C9F8E}"/>
              </a:ext>
            </a:extLst>
          </p:cNvPr>
          <p:cNvSpPr/>
          <p:nvPr/>
        </p:nvSpPr>
        <p:spPr>
          <a:xfrm>
            <a:off x="6286500" y="1397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6E5CA-E90E-62CB-B845-7E9163E6FFAC}"/>
              </a:ext>
            </a:extLst>
          </p:cNvPr>
          <p:cNvSpPr txBox="1"/>
          <p:nvPr/>
        </p:nvSpPr>
        <p:spPr>
          <a:xfrm>
            <a:off x="6477000" y="1549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D97706"/>
                </a:solidFill>
                <a:latin typeface="Segoe UI" panose="020B0502040204020203" pitchFamily="34" charset="0"/>
              </a:rPr>
              <a:t>The Hashing Trick Advantage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Vocabulary-Free: Direct mathematical mapping token -&gt; index.
â€¢ Fixed Dimensions: Fixed 512-dimensional output vector.
â€¢ Ultra-Low Memory: 512 floats = exactly 2,048 bytes (2 KB).
â€¢ Constant Time: O(L) where L is token length, independent of vocabulary size.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4E23045-C634-C242-C1D7-71B19242D2B5}"/>
              </a:ext>
            </a:extLst>
          </p:cNvPr>
          <p:cNvSpPr/>
          <p:nvPr/>
        </p:nvSpPr>
        <p:spPr>
          <a:xfrm>
            <a:off x="635000" y="3810000"/>
            <a:ext cx="109220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84C8B6-D0DA-F791-C69E-E88A306CB49E}"/>
              </a:ext>
            </a:extLst>
          </p:cNvPr>
          <p:cNvSpPr txBox="1"/>
          <p:nvPr/>
        </p:nvSpPr>
        <p:spPr>
          <a:xfrm>
            <a:off x="825500" y="3962400"/>
            <a:ext cx="105410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B45309"/>
                </a:solidFill>
                <a:latin typeface="Segoe UI" panose="020B0502040204020203" pitchFamily="34" charset="0"/>
              </a:rPr>
              <a:t>Mathematical Pipeline &amp; Normalization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1. Lowercase Tokenization: Extract words matching (?u)\b\w\w+\b.
2. 32-bit MurmurHash3: Compute hash = MurmurHash3_x86_32(token, seed=0).
3. Modulo Indexing: index = hash % 512 (accumulate frequencies in array).
4. L2 Normalization: Divide by Euclidean norm: x_norm = x / sqrt(sum(x_i^2)).
5. Parity: The exact same MurmurHash3 C code runs on ESP32 as in scikit-learn!</a:t>
            </a:r>
          </a:p>
        </p:txBody>
      </p:sp>
    </p:spTree>
    <p:extLst>
      <p:ext uri="{BB962C8B-B14F-4D97-AF65-F5344CB8AC3E}">
        <p14:creationId xmlns:p14="http://schemas.microsoft.com/office/powerpoint/2010/main" val="2275114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840F1D-FEAC-5A3A-E18B-F3F2762F7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F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D2FB52-A808-E067-58EE-E3B95FACA909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E11D4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MODEL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A9AC2-FC5D-4D28-DF3A-FFFEA1CD4225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SGD Classifier with L1 Regularization</a:t>
            </a:r>
            <a:endParaRPr lang="en-IN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5DD164-E842-DE1D-5701-A6B8ACD1CFFB}"/>
              </a:ext>
            </a:extLst>
          </p:cNvPr>
          <p:cNvSpPr/>
          <p:nvPr/>
        </p:nvSpPr>
        <p:spPr>
          <a:xfrm>
            <a:off x="635000" y="1397000"/>
            <a:ext cx="52705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CC34F6-A94E-D1AE-3740-6124581A0776}"/>
              </a:ext>
            </a:extLst>
          </p:cNvPr>
          <p:cNvSpPr txBox="1"/>
          <p:nvPr/>
        </p:nvSpPr>
        <p:spPr>
          <a:xfrm>
            <a:off x="825500" y="1549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E11D48"/>
                </a:solidFill>
                <a:latin typeface="Segoe UI" panose="020B0502040204020203" pitchFamily="34" charset="0"/>
              </a:rPr>
              <a:t>Model Formulation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Classifier: Stochastic Gradient Descent (SGDClassifier).
â€¢ Loss Function: 'log_loss' (Logistic Regression).
â€¢ Probability Estimation: P(Spam) = 1 / (1 + e^(-z)).
â€¢ Decision Boundary: SPAM if P(Spam) &gt;= 50% else HAM.
â€¢ Class Weighting: 'balanced' to counter the 6.46:1 class imbalance.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606A114-545F-F8F4-CD33-BF891B1AD42B}"/>
              </a:ext>
            </a:extLst>
          </p:cNvPr>
          <p:cNvSpPr/>
          <p:nvPr/>
        </p:nvSpPr>
        <p:spPr>
          <a:xfrm>
            <a:off x="6286500" y="1397000"/>
            <a:ext cx="5270500" cy="2222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E4554-FA6E-5A86-A1AD-43BA183B5F12}"/>
              </a:ext>
            </a:extLst>
          </p:cNvPr>
          <p:cNvSpPr txBox="1"/>
          <p:nvPr/>
        </p:nvSpPr>
        <p:spPr>
          <a:xfrm>
            <a:off x="6477000" y="1549400"/>
            <a:ext cx="48895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BE123C"/>
                </a:solidFill>
                <a:latin typeface="Segoe UI" panose="020B0502040204020203" pitchFamily="34" charset="0"/>
              </a:rPr>
              <a:t>Why L1 (Lasso) Regularization?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Regularization Penalty: penalty='l1' with alpha=1e-4.
â€¢ Weight Sparsity: L1 regularization drives non-essential weights to exactly 0.0f.
â€¢ Edge Optimization: Zero weights require zero computation during dot product on ESP32.
â€¢ Overfitting Prevention: Highly robust against noise in user SMS.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7731BC-D663-81AB-1959-04F42382BA57}"/>
              </a:ext>
            </a:extLst>
          </p:cNvPr>
          <p:cNvSpPr/>
          <p:nvPr/>
        </p:nvSpPr>
        <p:spPr>
          <a:xfrm>
            <a:off x="635000" y="3873500"/>
            <a:ext cx="10922000" cy="2095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CD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238414-48A4-879A-79E4-19BC2E13F674}"/>
              </a:ext>
            </a:extLst>
          </p:cNvPr>
          <p:cNvSpPr txBox="1"/>
          <p:nvPr/>
        </p:nvSpPr>
        <p:spPr>
          <a:xfrm>
            <a:off x="825500" y="4025900"/>
            <a:ext cx="105410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E11D48"/>
                </a:solidFill>
                <a:latin typeface="Segoe UI" panose="020B0502040204020203" pitchFamily="34" charset="0"/>
              </a:rPr>
              <a:t>Dual Model Artifacts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Cloud Artifact (model.joblib): 5.2 KB serialized scikit-learn model, deployed to Vercel for &lt;2 ms cold start loading.
â€¢ Edge Artifact (model_weights.h): Auto-generated C/C++ header defining MODEL_WEIGHTS[512] and MODEL_BIAS for compilation into ESP32 firmware.
â€¢ Unified Intelligence: Both cloud web app and edge microcontroller share identical mathematical weights.</a:t>
            </a:r>
          </a:p>
        </p:txBody>
      </p:sp>
    </p:spTree>
    <p:extLst>
      <p:ext uri="{BB962C8B-B14F-4D97-AF65-F5344CB8AC3E}">
        <p14:creationId xmlns:p14="http://schemas.microsoft.com/office/powerpoint/2010/main" val="347711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D0BC3-A86A-19A9-7EC1-24B2ADA6103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0FDF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09077A7-5CC5-5490-9506-DC82D359BF10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0D9488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PERFORMANCE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B7D46-1939-3172-4230-E28D9456D602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172A"/>
                </a:solidFill>
                <a:latin typeface="Segoe UI" panose="020B0502040204020203" pitchFamily="34" charset="0"/>
              </a:rPr>
              <a:t>Experimental Results &amp; Metrics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3744CB1-278F-D95D-2D1B-EDA4A9E0FE1E}"/>
              </a:ext>
            </a:extLst>
          </p:cNvPr>
          <p:cNvSpPr/>
          <p:nvPr/>
        </p:nvSpPr>
        <p:spPr>
          <a:xfrm>
            <a:off x="635000" y="1397000"/>
            <a:ext cx="3429000" cy="177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3E24A2-0EF5-044F-CD19-73BB80D50F7A}"/>
              </a:ext>
            </a:extLst>
          </p:cNvPr>
          <p:cNvSpPr txBox="1"/>
          <p:nvPr/>
        </p:nvSpPr>
        <p:spPr>
          <a:xfrm>
            <a:off x="825500" y="154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D9488"/>
                </a:solidFill>
                <a:latin typeface="Segoe UI" panose="020B0502040204020203" pitchFamily="34" charset="0"/>
              </a:rPr>
              <a:t>Overall Accuracy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95.96%
(1,070 / 1,115 Correct)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04AB7A4-6A98-C47E-6458-53D238ADC137}"/>
              </a:ext>
            </a:extLst>
          </p:cNvPr>
          <p:cNvSpPr/>
          <p:nvPr/>
        </p:nvSpPr>
        <p:spPr>
          <a:xfrm>
            <a:off x="4381500" y="1397000"/>
            <a:ext cx="3429000" cy="177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DA0A90-3C11-6F57-F65F-FAA34579D713}"/>
              </a:ext>
            </a:extLst>
          </p:cNvPr>
          <p:cNvSpPr txBox="1"/>
          <p:nvPr/>
        </p:nvSpPr>
        <p:spPr>
          <a:xfrm>
            <a:off x="4572000" y="154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D9488"/>
                </a:solidFill>
                <a:latin typeface="Segoe UI" panose="020B0502040204020203" pitchFamily="34" charset="0"/>
              </a:rPr>
              <a:t>SPAM Recall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91.95%
(137 / 149 Caught)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8795B4-D534-51C6-0D37-49BD0B5F3819}"/>
              </a:ext>
            </a:extLst>
          </p:cNvPr>
          <p:cNvSpPr/>
          <p:nvPr/>
        </p:nvSpPr>
        <p:spPr>
          <a:xfrm>
            <a:off x="8128000" y="1397000"/>
            <a:ext cx="3429000" cy="1778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9F6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A2CFD2-87C3-31B7-0A18-C4C6E9786AAB}"/>
              </a:ext>
            </a:extLst>
          </p:cNvPr>
          <p:cNvSpPr txBox="1"/>
          <p:nvPr/>
        </p:nvSpPr>
        <p:spPr>
          <a:xfrm>
            <a:off x="8318500" y="1549400"/>
            <a:ext cx="3048000" cy="8771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0D9488"/>
                </a:solidFill>
                <a:latin typeface="Segoe UI" panose="020B0502040204020203" pitchFamily="34" charset="0"/>
              </a:rPr>
              <a:t>HAM Precision
</a:t>
            </a:r>
            <a:r>
              <a:rPr lang="en-IN" sz="1200">
                <a:solidFill>
                  <a:srgbClr val="0F172A"/>
                </a:solidFill>
                <a:latin typeface="Segoe UI" panose="020B0502040204020203" pitchFamily="34" charset="0"/>
              </a:rPr>
              <a:t>
98.73%
(High Reliability)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A2558B-AA7E-938B-95F3-98603544D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33692"/>
              </p:ext>
            </p:extLst>
          </p:nvPr>
        </p:nvGraphicFramePr>
        <p:xfrm>
          <a:off x="635000" y="3429000"/>
          <a:ext cx="10922000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4400">
                  <a:extLst>
                    <a:ext uri="{9D8B030D-6E8A-4147-A177-3AD203B41FA5}">
                      <a16:colId xmlns:a16="http://schemas.microsoft.com/office/drawing/2014/main" val="3090058045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967103499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432625342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1175531320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274888979"/>
                    </a:ext>
                  </a:extLst>
                </a:gridCol>
              </a:tblGrid>
              <a:tr h="603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F1-Score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FFFFF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31410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HAM (Legitimate)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98.73%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96.58%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97.65%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966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719389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SPAM (Malicious)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80.59%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91.95%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85.89%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solidFill>
                            <a:srgbClr val="0F172A"/>
                          </a:solidFill>
                        </a:rPr>
                        <a:t>149</a:t>
                      </a:r>
                    </a:p>
                  </a:txBody>
                  <a:tcPr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03368"/>
                  </a:ext>
                </a:extLst>
              </a:tr>
              <a:tr h="60325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Weighted Average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96.31%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95.96%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96.07%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rgbClr val="0F172A"/>
                          </a:solidFill>
                        </a:rPr>
                        <a:t>1,115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733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8229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E97122-AF2A-EA61-1544-2C40D0BAFEC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8CFE3C-4D96-DDFA-D08B-9634D12E6325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EDGE COMPUTING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706389-E9B5-3894-BFDE-0A3C1B96F757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Embedded ESP32 IoT Implementation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A72B364-3705-3706-C15E-973B4EC8C386}"/>
              </a:ext>
            </a:extLst>
          </p:cNvPr>
          <p:cNvSpPr/>
          <p:nvPr/>
        </p:nvSpPr>
        <p:spPr>
          <a:xfrm>
            <a:off x="635000" y="1397000"/>
            <a:ext cx="52705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8127D-F9AA-3D6C-829A-AD6B6837A080}"/>
              </a:ext>
            </a:extLst>
          </p:cNvPr>
          <p:cNvSpPr txBox="1"/>
          <p:nvPr/>
        </p:nvSpPr>
        <p:spPr>
          <a:xfrm>
            <a:off x="825500" y="1549400"/>
            <a:ext cx="48895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38BDF8"/>
                </a:solidFill>
                <a:latin typeface="Segoe UI" panose="020B0502040204020203" pitchFamily="34" charset="0"/>
              </a:rPr>
              <a:t>Hardware Specifications
</a:t>
            </a:r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
â€¢ Microcontroller: ESP32 NodeMCU (Xtensa dual-core 32-bit LX6 @ 240 MHz).
â€¢ Memory: 520 KB SRAM, 4 MB Flash.
â€¢ Display: 0.96 inch SSD1306 I2C OLED (128x64 pixels).
â€¢ Connections: SDA -&gt; GPIO 21, SCL -&gt; GPIO 22, VCC (3.3V), GND.
â€¢ Firmware: Native Arduino C++ (EdgeSpam_Demo.ino).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BEE6EB-6BF9-3BDB-B9D2-EF90C917C70D}"/>
              </a:ext>
            </a:extLst>
          </p:cNvPr>
          <p:cNvSpPr/>
          <p:nvPr/>
        </p:nvSpPr>
        <p:spPr>
          <a:xfrm>
            <a:off x="6286500" y="1397000"/>
            <a:ext cx="52705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005F1-E285-E5A9-9EFD-A52B5F45C2F5}"/>
              </a:ext>
            </a:extLst>
          </p:cNvPr>
          <p:cNvSpPr txBox="1"/>
          <p:nvPr/>
        </p:nvSpPr>
        <p:spPr>
          <a:xfrm>
            <a:off x="6477000" y="1549400"/>
            <a:ext cx="4889500" cy="19851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34D399"/>
                </a:solidFill>
                <a:latin typeface="Segoe UI" panose="020B0502040204020203" pitchFamily="34" charset="0"/>
              </a:rPr>
              <a:t>On-Device Inference Flow
</a:t>
            </a:r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
1. Character Stream: Message parsed character-by-character into tokens.
2. Hash Computation: Native 32-bit MurmurHash3 algorithm.
3. Normalization: Computes Euclidean norm using sqrt() from math.h.
4. Linear Classifier: calculateScore() computes dot product with static const float MODEL_WEIGHTS[512].
5. OLED Visualization: Displays 'SPAM' or 'HAM' alongside confidence bar in under 5 milliseconds!</a:t>
            </a:r>
          </a:p>
        </p:txBody>
      </p:sp>
    </p:spTree>
    <p:extLst>
      <p:ext uri="{BB962C8B-B14F-4D97-AF65-F5344CB8AC3E}">
        <p14:creationId xmlns:p14="http://schemas.microsoft.com/office/powerpoint/2010/main" val="263209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3E22B0-74EF-0073-BE0E-A0B93C21FEB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EF2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FC35DF-B1D4-6623-FF02-4FC22726820E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4F46E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WEB &amp; CLOUD PLATFORM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E03B-6419-31A4-A662-B7E40671819E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Cloud Web App &amp; Admin Dashboard</a:t>
            </a:r>
            <a:endParaRPr lang="en-IN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40EB456-4B43-087A-7373-177A4FCA678F}"/>
              </a:ext>
            </a:extLst>
          </p:cNvPr>
          <p:cNvSpPr/>
          <p:nvPr/>
        </p:nvSpPr>
        <p:spPr>
          <a:xfrm>
            <a:off x="635000" y="1397000"/>
            <a:ext cx="34290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8FB44D-1664-3A9C-3F2C-DA2CE2CC1B4D}"/>
              </a:ext>
            </a:extLst>
          </p:cNvPr>
          <p:cNvSpPr txBox="1"/>
          <p:nvPr/>
        </p:nvSpPr>
        <p:spPr>
          <a:xfrm>
            <a:off x="825500" y="1549400"/>
            <a:ext cx="30480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4F46E5"/>
                </a:solidFill>
                <a:latin typeface="Segoe UI" panose="020B0502040204020203" pitchFamily="34" charset="0"/>
              </a:rPr>
              <a:t>Administrator Sign In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Client-side session authentication (sessionStorage).
â€¢ Secure demo credentials (admin / admin123).
â€¢ Route protection: Unauthenticated visitors cannot access dashboard.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976E06-D4F9-E7DE-076A-7DF3293EA1D6}"/>
              </a:ext>
            </a:extLst>
          </p:cNvPr>
          <p:cNvSpPr/>
          <p:nvPr/>
        </p:nvSpPr>
        <p:spPr>
          <a:xfrm>
            <a:off x="4381500" y="1397000"/>
            <a:ext cx="34290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569A8E-62E7-9DB4-D337-F7419FBC2F56}"/>
              </a:ext>
            </a:extLst>
          </p:cNvPr>
          <p:cNvSpPr txBox="1"/>
          <p:nvPr/>
        </p:nvSpPr>
        <p:spPr>
          <a:xfrm>
            <a:off x="4572000" y="1549400"/>
            <a:ext cx="3048000" cy="161582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4F46E5"/>
                </a:solidFill>
                <a:latin typeface="Segoe UI" panose="020B0502040204020203" pitchFamily="34" charset="0"/>
              </a:rPr>
              <a:t>Live Analytics Dashboard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4 Dynamic Cards: Total, Spam, Ham, Avg Probability.
â€¢ Immediate UI updates on every prediction.
â€¢ Quick action buttons: New SMS, View History, Clear History.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D24B14B-D0EA-DDA7-BD31-0E6E52DA5364}"/>
              </a:ext>
            </a:extLst>
          </p:cNvPr>
          <p:cNvSpPr/>
          <p:nvPr/>
        </p:nvSpPr>
        <p:spPr>
          <a:xfrm>
            <a:off x="8128000" y="1397000"/>
            <a:ext cx="34290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A7E88-8150-0332-4514-3ADEE43D62D3}"/>
              </a:ext>
            </a:extLst>
          </p:cNvPr>
          <p:cNvSpPr txBox="1"/>
          <p:nvPr/>
        </p:nvSpPr>
        <p:spPr>
          <a:xfrm>
            <a:off x="8318500" y="1549400"/>
            <a:ext cx="30480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4F46E5"/>
                </a:solidFill>
                <a:latin typeface="Segoe UI" panose="020B0502040204020203" pitchFamily="34" charset="0"/>
              </a:rPr>
              <a:t>Dual-Tier Persistence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Browser localStorage: Zero-latency rendering across serverless cold starts.
â€¢ Serverless SQLite: Records logged to /tmp/predictions.db.
â€¢ Full sync &amp; merge on page load.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29DB6C-A889-DB31-340B-FA6CCB05799A}"/>
              </a:ext>
            </a:extLst>
          </p:cNvPr>
          <p:cNvSpPr/>
          <p:nvPr/>
        </p:nvSpPr>
        <p:spPr>
          <a:xfrm>
            <a:off x="635000" y="3810000"/>
            <a:ext cx="109220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8DF737-4806-4CEB-360F-B5D1BE103F8E}"/>
              </a:ext>
            </a:extLst>
          </p:cNvPr>
          <p:cNvSpPr txBox="1"/>
          <p:nvPr/>
        </p:nvSpPr>
        <p:spPr>
          <a:xfrm>
            <a:off x="825500" y="3962400"/>
            <a:ext cx="105410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4F46E5"/>
                </a:solidFill>
                <a:latin typeface="Segoe UI" panose="020B0502040204020203" pitchFamily="34" charset="0"/>
              </a:rPr>
              <a:t>Vercel Serverless Architecture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Zero Cold-Start Lag: Pre-trained model.joblib (5 KB) loads instantly without training.
â€¢ Edge Rewrites: vercel.json routes /api/predict, /api/stats, /api/history cleanly via ?action=...
â€¢ CORS Headers: Full OPTIONS preflight support for cross-origin and secure mobile integration.
â€¢ Automated CI/CD: Continuous deployment from GitHub repository on every git push.</a:t>
            </a:r>
          </a:p>
        </p:txBody>
      </p:sp>
    </p:spTree>
    <p:extLst>
      <p:ext uri="{BB962C8B-B14F-4D97-AF65-F5344CB8AC3E}">
        <p14:creationId xmlns:p14="http://schemas.microsoft.com/office/powerpoint/2010/main" val="2278552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257C2D-6CF9-ADB5-835F-A589811C99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7E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04DE4A6-E677-2967-E7B3-719F7A3070C9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KEY HIGHLIGHTS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7DBC91-FC7A-4E3B-7335-8CEA3B7CBAD3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0F172A"/>
                </a:solidFill>
                <a:latin typeface="Segoe UI" panose="020B0502040204020203" pitchFamily="34" charset="0"/>
              </a:rPr>
              <a:t>Key Advantages of EdgeSpam-IoT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7A56C9B-B2CD-FAC1-7D9B-A7415E1AE3DE}"/>
              </a:ext>
            </a:extLst>
          </p:cNvPr>
          <p:cNvSpPr/>
          <p:nvPr/>
        </p:nvSpPr>
        <p:spPr>
          <a:xfrm>
            <a:off x="635000" y="1397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8F72B7-C2EF-D6F2-AA10-8EDCB7144C4D}"/>
              </a:ext>
            </a:extLst>
          </p:cNvPr>
          <p:cNvSpPr txBox="1"/>
          <p:nvPr/>
        </p:nvSpPr>
        <p:spPr>
          <a:xfrm>
            <a:off x="825500" y="1549400"/>
            <a:ext cx="488950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EA580C"/>
                </a:solidFill>
                <a:latin typeface="Segoe UI" panose="020B0502040204020203" pitchFamily="34" charset="0"/>
              </a:rPr>
              <a:t>Privacy-First Architecture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Sensitive SMS messages never need to leave the edge device.
â€¢ Eliminates corporate and cloud surveillance of private messages.
â€¢ Complies with GDPR and data privacy regulations by design.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206E02C-DCC8-7DFB-1D28-9B2AE5B63F20}"/>
              </a:ext>
            </a:extLst>
          </p:cNvPr>
          <p:cNvSpPr/>
          <p:nvPr/>
        </p:nvSpPr>
        <p:spPr>
          <a:xfrm>
            <a:off x="6286500" y="1397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5F8635-0B62-0D2E-4A91-C800904915FF}"/>
              </a:ext>
            </a:extLst>
          </p:cNvPr>
          <p:cNvSpPr txBox="1"/>
          <p:nvPr/>
        </p:nvSpPr>
        <p:spPr>
          <a:xfrm>
            <a:off x="6477000" y="1549400"/>
            <a:ext cx="4889500" cy="12464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C2410C"/>
                </a:solidFill>
                <a:latin typeface="Segoe UI" panose="020B0502040204020203" pitchFamily="34" charset="0"/>
              </a:rPr>
              <a:t>Ultra-Low Resource Footprint
</a:t>
            </a:r>
            <a:r>
              <a:rPr lang="en-US" sz="1200">
                <a:solidFill>
                  <a:srgbClr val="475569"/>
                </a:solidFill>
                <a:latin typeface="Segoe UI" panose="020B0502040204020203" pitchFamily="34" charset="0"/>
              </a:rPr>
              <a:t>
â€¢ Fixed 512 dimensions requires only 2 KB RAM.
â€¢ L1-sparse weights reduce floating-point operations by up to 60%.
â€¢ Low power consumption: Suitable for battery-powered IoT devices.</a:t>
            </a:r>
            <a:endParaRPr lang="en-IN" sz="12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F903744-C1A2-1E59-2F04-A6B0E3B2736B}"/>
              </a:ext>
            </a:extLst>
          </p:cNvPr>
          <p:cNvSpPr/>
          <p:nvPr/>
        </p:nvSpPr>
        <p:spPr>
          <a:xfrm>
            <a:off x="635000" y="3810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605AA9-9033-CE26-F8A6-73A6F51608F8}"/>
              </a:ext>
            </a:extLst>
          </p:cNvPr>
          <p:cNvSpPr txBox="1"/>
          <p:nvPr/>
        </p:nvSpPr>
        <p:spPr>
          <a:xfrm>
            <a:off x="825500" y="3962400"/>
            <a:ext cx="4889500" cy="10618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EA580C"/>
                </a:solidFill>
                <a:latin typeface="Segoe UI" panose="020B0502040204020203" pitchFamily="34" charset="0"/>
              </a:rPr>
              <a:t>Sub-Millisecond Latency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On-device classification completes in under 5 ms on ESP32.
â€¢ Cloud API responds in under 50 ms via Vercel Edge CDN.
â€¢ Instantaneous real-time filtering before user reads SMS.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4D3E59-BC1D-F644-28E4-0DB64157FD49}"/>
              </a:ext>
            </a:extLst>
          </p:cNvPr>
          <p:cNvSpPr/>
          <p:nvPr/>
        </p:nvSpPr>
        <p:spPr>
          <a:xfrm>
            <a:off x="6286500" y="3810000"/>
            <a:ext cx="5270500" cy="2159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ED7A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BC3B0-FA19-6450-D783-610D4143F1D6}"/>
              </a:ext>
            </a:extLst>
          </p:cNvPr>
          <p:cNvSpPr txBox="1"/>
          <p:nvPr/>
        </p:nvSpPr>
        <p:spPr>
          <a:xfrm>
            <a:off x="6477000" y="3962400"/>
            <a:ext cx="4889500" cy="143116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C2410C"/>
                </a:solidFill>
                <a:latin typeface="Segoe UI" panose="020B0502040204020203" pitchFamily="34" charset="0"/>
              </a:rPr>
              <a:t>Dual Cloud-Edge Synergy
</a:t>
            </a:r>
            <a:r>
              <a:rPr lang="en-IN" sz="1200">
                <a:solidFill>
                  <a:srgbClr val="475569"/>
                </a:solidFill>
                <a:latin typeface="Segoe UI" panose="020B0502040204020203" pitchFamily="34" charset="0"/>
              </a:rPr>
              <a:t>
â€¢ Same mathematical model runs on microcontrollers and cloud web servers.
â€¢ Enables unified hybrid deployments across edge gateways and web portals.
â€¢ Easy to demonstrate and evaluate during academic reviews.</a:t>
            </a:r>
          </a:p>
        </p:txBody>
      </p:sp>
    </p:spTree>
    <p:extLst>
      <p:ext uri="{BB962C8B-B14F-4D97-AF65-F5344CB8AC3E}">
        <p14:creationId xmlns:p14="http://schemas.microsoft.com/office/powerpoint/2010/main" val="665419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340B56-1474-C908-7633-DB6C9E6C28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8A5EDA-DBFB-253B-8457-DFAD5D2FA768}"/>
              </a:ext>
            </a:extLst>
          </p:cNvPr>
          <p:cNvSpPr/>
          <p:nvPr/>
        </p:nvSpPr>
        <p:spPr>
          <a:xfrm>
            <a:off x="635000" y="317500"/>
            <a:ext cx="2540000" cy="3048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00" b="1">
                <a:solidFill>
                  <a:srgbClr val="FFFFFF"/>
                </a:solidFill>
                <a:latin typeface="Segoe UI" panose="020B0502040204020203" pitchFamily="34" charset="0"/>
              </a:rPr>
              <a:t>SUMMARY &amp; ROADMAP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01961C-3E1F-944B-6B73-8294D02A629B}"/>
              </a:ext>
            </a:extLst>
          </p:cNvPr>
          <p:cNvSpPr txBox="1"/>
          <p:nvPr/>
        </p:nvSpPr>
        <p:spPr>
          <a:xfrm>
            <a:off x="635000" y="6604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Conclusion &amp; Future Scope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C61942-6492-A4EB-849C-44B62DFF0CBF}"/>
              </a:ext>
            </a:extLst>
          </p:cNvPr>
          <p:cNvSpPr/>
          <p:nvPr/>
        </p:nvSpPr>
        <p:spPr>
          <a:xfrm>
            <a:off x="635000" y="1397000"/>
            <a:ext cx="5270500" cy="304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C9BAF8-81EE-9761-03E3-F1B0E4C0BFCB}"/>
              </a:ext>
            </a:extLst>
          </p:cNvPr>
          <p:cNvSpPr txBox="1"/>
          <p:nvPr/>
        </p:nvSpPr>
        <p:spPr>
          <a:xfrm>
            <a:off x="825500" y="1549400"/>
            <a:ext cx="4889500" cy="216982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F59E0B"/>
                </a:solidFill>
                <a:latin typeface="Segoe UI" panose="020B0502040204020203" pitchFamily="34" charset="0"/>
              </a:rPr>
              <a:t>Project Achievements
</a:t>
            </a:r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
â€¢ Successfully developed and validated EdgeSpam-IoT.
â€¢ Demonstrated feature hashing with MurmurHash3 to eliminate vocabulary dictionaries.
â€¢ Achieved 95.96% accuracy and 91.95% spam recall with L1-regularized SGD.
â€¢ Deployed live on Vercel Serverless with full Admin Dashboard &amp; session auth.
â€¢ Verified embedded execution on ESP32 microcontroller with OLED display.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9E1D56-1937-D5CD-9C76-089A392E52C6}"/>
              </a:ext>
            </a:extLst>
          </p:cNvPr>
          <p:cNvSpPr/>
          <p:nvPr/>
        </p:nvSpPr>
        <p:spPr>
          <a:xfrm>
            <a:off x="6286500" y="1397000"/>
            <a:ext cx="5270500" cy="3048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EBFD5-4EAD-D798-4A15-8CECBDA4058C}"/>
              </a:ext>
            </a:extLst>
          </p:cNvPr>
          <p:cNvSpPr txBox="1"/>
          <p:nvPr/>
        </p:nvSpPr>
        <p:spPr>
          <a:xfrm>
            <a:off x="6477000" y="1549400"/>
            <a:ext cx="4889500" cy="235449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500" b="1">
                <a:solidFill>
                  <a:srgbClr val="60A5FA"/>
                </a:solidFill>
                <a:latin typeface="Segoe UI" panose="020B0502040204020203" pitchFamily="34" charset="0"/>
              </a:rPr>
              <a:t>Future Enhancements
</a:t>
            </a:r>
            <a:r>
              <a:rPr lang="en-IN" sz="1200">
                <a:solidFill>
                  <a:srgbClr val="CBD5E1"/>
                </a:solidFill>
                <a:latin typeface="Segoe UI" panose="020B0502040204020203" pitchFamily="34" charset="0"/>
              </a:rPr>
              <a:t>
â€¢ Multi-Language Support: Extend tokenization to multilingual SMS corpora.
â€¢ Federated Learning: Decentralized model updates across distributed IoT nodes.
â€¢ GSM Module Integration: Direct interception of cellular SMS via SIM800L module.
â€¢ Android / iOS Gateway: Companion mobile application for real-time inbox filtering.
â€¢ Hardware Acceleration: Leveraging ESP32 dual-core SIMD instructions.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0C41C7-A5D9-29E0-96F0-C4B96B04AD62}"/>
              </a:ext>
            </a:extLst>
          </p:cNvPr>
          <p:cNvSpPr/>
          <p:nvPr/>
        </p:nvSpPr>
        <p:spPr>
          <a:xfrm>
            <a:off x="635000" y="4762500"/>
            <a:ext cx="10922000" cy="12065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200" b="1">
                <a:solidFill>
                  <a:srgbClr val="FFFFFF"/>
                </a:solidFill>
                <a:latin typeface="Segoe UI" panose="020B0502040204020203" pitchFamily="34" charset="0"/>
              </a:rPr>
              <a:t>THANK YOU!
Questions &amp; Discussion</a:t>
            </a:r>
          </a:p>
        </p:txBody>
      </p:sp>
    </p:spTree>
    <p:extLst>
      <p:ext uri="{BB962C8B-B14F-4D97-AF65-F5344CB8AC3E}">
        <p14:creationId xmlns:p14="http://schemas.microsoft.com/office/powerpoint/2010/main" val="142644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2088</Words>
  <Application>Microsoft Office PowerPoint</Application>
  <PresentationFormat>Custom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Bareera Rukma</dc:creator>
  <cp:lastModifiedBy>Bareera Rukma</cp:lastModifiedBy>
  <cp:revision>1</cp:revision>
  <dcterms:created xsi:type="dcterms:W3CDTF">2026-09-22T10:39:36Z</dcterms:created>
  <dcterms:modified xsi:type="dcterms:W3CDTF">2026-09-22T10:39:36Z</dcterms:modified>
</cp:coreProperties>
</file>